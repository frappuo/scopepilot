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Raleway" pitchFamily="2" charset="0"/>
      <p:regular r:id="rId16"/>
      <p:bold r:id="rId17"/>
      <p:italic r:id="rId18"/>
      <p:boldItalic r:id="rId19"/>
    </p:embeddedFont>
    <p:embeddedFont>
      <p:font typeface="Raleway Light" pitchFamily="2" charset="0"/>
      <p:regular r:id="rId20"/>
      <p: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Bold" panose="02000000000000000000" charset="0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86" y="-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540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51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2146507"/>
            <a:ext cx="89245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 and Engineering </a:t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E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BCSE 497J – Project-I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ScopePilot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AI Assistant for Microscopy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834331"/>
            <a:ext cx="7071360" cy="21133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</a:pPr>
            <a:r>
              <a:rPr lang="en-US" sz="2000" b="1" spc="-20" dirty="0">
                <a:latin typeface="Times New Roman"/>
                <a:cs typeface="Times New Roman"/>
              </a:rPr>
              <a:t>Ayman Mohammed </a:t>
            </a:r>
          </a:p>
          <a:p>
            <a:pPr marL="12700" algn="ctr">
              <a:lnSpc>
                <a:spcPct val="100000"/>
              </a:lnSpc>
            </a:pPr>
            <a:r>
              <a:rPr lang="en-US" sz="2000" b="1" spc="-20" dirty="0">
                <a:latin typeface="Times New Roman"/>
                <a:cs typeface="Times New Roman"/>
              </a:rPr>
              <a:t>23BCE2218</a:t>
            </a:r>
            <a:endParaRPr lang="en-US" sz="2000" b="1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US" sz="2000" b="1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Mr. Justus Raju </a:t>
            </a:r>
            <a:endParaRPr lang="en-US"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31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9233"/>
            <a:ext cx="6296860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Aim and Understanding the Problem</a:t>
            </a:r>
            <a:endParaRPr lang="en-US" sz="2950" b="1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650405"/>
            <a:ext cx="6296860" cy="10795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79218" y="1820069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Motivation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5479218" y="2127349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Microscopy is central to biology education, yet students often observe specimens without knowing what they are seeing, no real-time guidance, no structured feedback.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849959"/>
            <a:ext cx="6296860" cy="10795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79218" y="3019623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5479218" y="3326904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microscopes are passive instruments; expert interpretation is scarce, expensive, and unavailable during self-paced lab sessions.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049514"/>
            <a:ext cx="6296860" cy="10795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79218" y="4219178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Question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5479218" y="4526459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a vision-language model analyze a live microscope field of view and deliver structured, educationally grounded explanations, without replacing the human observer?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249069"/>
            <a:ext cx="6296860" cy="107959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79218" y="5418733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Constraint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5479218" y="5726013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 must work with existing hardware (standard microscope + phone camera), require no specialized equipment.</a:t>
            </a:r>
            <a:endParaRPr lang="en-US" sz="11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F24E48-19F1-62E1-CD68-707999EBB9A8}"/>
              </a:ext>
            </a:extLst>
          </p:cNvPr>
          <p:cNvSpPr/>
          <p:nvPr/>
        </p:nvSpPr>
        <p:spPr>
          <a:xfrm>
            <a:off x="10935478" y="6522098"/>
            <a:ext cx="1184987" cy="335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7827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3650" b="1" dirty="0"/>
          </a:p>
        </p:txBody>
      </p:sp>
      <p:sp>
        <p:nvSpPr>
          <p:cNvPr id="3" name="Text 1"/>
          <p:cNvSpPr/>
          <p:nvPr/>
        </p:nvSpPr>
        <p:spPr>
          <a:xfrm>
            <a:off x="661475" y="1655564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946374"/>
            <a:ext cx="3500747" cy="254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61475" y="2090142"/>
            <a:ext cx="350074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AI Analysis Pipeline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1475" y="2490688"/>
            <a:ext cx="3500747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mobile-first system that captures a live microscope field of view and returns structured AI analysis (specimen ID, visible structures, biological explanation, uncertainty) via a defined JSON schema.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5375" y="1655564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5375" y="1946374"/>
            <a:ext cx="3500846" cy="254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4345375" y="2090142"/>
            <a:ext cx="350084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 err="1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ScopePilot</a:t>
            </a: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- VLM Evaluation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45375" y="2490688"/>
            <a:ext cx="350084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and evaluate a custom rubric-based benchmark to select the most reliable free vision-language model for microscopy tasks before integration.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29374" y="1655564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29374" y="1946374"/>
            <a:ext cx="3500747" cy="254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8029374" y="2090142"/>
            <a:ext cx="350074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RAG-Grounded Explanations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29374" y="2490688"/>
            <a:ext cx="3500747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a RAG pipeline grounded in open biology references (OpenStax Biology 2e, LibreTexts) to produce cited, verifiable explanations rather than unconstrained generation.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289723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580533"/>
            <a:ext cx="5342697" cy="254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661475" y="4724301"/>
            <a:ext cx="534269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Downstream Educational Features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1475" y="5124847"/>
            <a:ext cx="5342697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AI specimen chat, quiz generation, and multi-image comparison, all powered entirely by the structured analysis output.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87325" y="4289723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87325" y="4580533"/>
            <a:ext cx="5342796" cy="254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6187325" y="4724301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Human-in-the-Loop Design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87325" y="5124847"/>
            <a:ext cx="534279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augments the observer and makes no medical diagnostic claims, safe for student-facing deployment throughout.</a:t>
            </a:r>
            <a:endParaRPr lang="en-US" sz="14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E2998B-F0EA-BC4D-A0D0-7716DFE7C9C0}"/>
              </a:ext>
            </a:extLst>
          </p:cNvPr>
          <p:cNvSpPr/>
          <p:nvPr/>
        </p:nvSpPr>
        <p:spPr>
          <a:xfrm>
            <a:off x="10935478" y="6522098"/>
            <a:ext cx="1184987" cy="335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226" y="691156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Abstract, Ideation &amp; Approach</a:t>
            </a:r>
            <a:endParaRPr lang="en-US" sz="3650" b="1" dirty="0"/>
          </a:p>
        </p:txBody>
      </p:sp>
      <p:sp>
        <p:nvSpPr>
          <p:cNvPr id="3" name="Text 1"/>
          <p:cNvSpPr/>
          <p:nvPr/>
        </p:nvSpPr>
        <p:spPr>
          <a:xfrm>
            <a:off x="661475" y="3709392"/>
            <a:ext cx="41186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827111"/>
            <a:ext cx="690584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It Is?</a:t>
            </a:r>
            <a:endParaRPr lang="en-US" sz="1800" b="1" dirty="0"/>
          </a:p>
        </p:txBody>
      </p:sp>
      <p:sp>
        <p:nvSpPr>
          <p:cNvPr id="5" name="Text 3"/>
          <p:cNvSpPr/>
          <p:nvPr/>
        </p:nvSpPr>
        <p:spPr>
          <a:xfrm>
            <a:off x="661475" y="2209401"/>
            <a:ext cx="1057258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ScopePilot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 attaches a phone camera to a microscope eyepiece, captures the field of view the user sees, and sends it to a vision-language model for structured JSON analysis: specimen ID, visible structures, explanation, and uncertainty.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278384"/>
            <a:ext cx="690584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Alternatives Rejected</a:t>
            </a:r>
            <a:endParaRPr lang="en-US" sz="1800" b="1" dirty="0"/>
          </a:p>
        </p:txBody>
      </p:sp>
      <p:sp>
        <p:nvSpPr>
          <p:cNvPr id="7" name="Text 5"/>
          <p:cNvSpPr/>
          <p:nvPr/>
        </p:nvSpPr>
        <p:spPr>
          <a:xfrm>
            <a:off x="661475" y="3752253"/>
            <a:ext cx="6905849" cy="1014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real-time streaming — too costly, high-latency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Free-text LLM output — unparseable for downstream features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Dedicated microscope camera hardware — excludes low-resource labs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4949426"/>
            <a:ext cx="690584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Design Choice</a:t>
            </a:r>
            <a:endParaRPr lang="en-US" sz="1800" b="1" dirty="0"/>
          </a:p>
        </p:txBody>
      </p:sp>
      <p:sp>
        <p:nvSpPr>
          <p:cNvPr id="9" name="Text 7"/>
          <p:cNvSpPr/>
          <p:nvPr/>
        </p:nvSpPr>
        <p:spPr>
          <a:xfrm>
            <a:off x="661475" y="5423295"/>
            <a:ext cx="690584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Capture-triggered analysis via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Gemini API + Pydantic </a:t>
            </a:r>
            <a:r>
              <a:rPr lang="en-US" sz="1450" b="1" dirty="0" err="1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response_schema</a:t>
            </a:r>
            <a:r>
              <a:rPr lang="en-US" sz="14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structured, deterministic, cost-efficient. Downstream features (AI chat, quiz generation, multi-image comparison) are all powered by structured output.</a:t>
            </a:r>
            <a:endParaRPr lang="en-US" sz="14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B08F94-B111-F5B7-FEBA-41A08879E990}"/>
              </a:ext>
            </a:extLst>
          </p:cNvPr>
          <p:cNvSpPr/>
          <p:nvPr/>
        </p:nvSpPr>
        <p:spPr>
          <a:xfrm>
            <a:off x="10935478" y="6522098"/>
            <a:ext cx="1184987" cy="335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6693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Literature Survey</a:t>
            </a:r>
            <a:endParaRPr lang="en-US" sz="2700" b="1" dirty="0"/>
          </a:p>
        </p:txBody>
      </p:sp>
      <p:sp>
        <p:nvSpPr>
          <p:cNvPr id="3" name="Shape 1"/>
          <p:cNvSpPr/>
          <p:nvPr/>
        </p:nvSpPr>
        <p:spPr>
          <a:xfrm>
            <a:off x="661475" y="1324273"/>
            <a:ext cx="10868745" cy="4847034"/>
          </a:xfrm>
          <a:prstGeom prst="roundRect">
            <a:avLst>
              <a:gd name="adj" fmla="val 120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661475" y="1661319"/>
            <a:ext cx="10868745" cy="86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661475" y="2380357"/>
            <a:ext cx="10868745" cy="86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661475" y="3099395"/>
            <a:ext cx="10868745" cy="86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61475" y="3818434"/>
            <a:ext cx="10868745" cy="86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661475" y="4537472"/>
            <a:ext cx="10868745" cy="86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661475" y="5256510"/>
            <a:ext cx="10868745" cy="86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668023" y="1330623"/>
            <a:ext cx="2713962" cy="330696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806827" y="1398091"/>
            <a:ext cx="304593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Author / Year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1985" y="1330623"/>
            <a:ext cx="2713962" cy="330696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3520788" y="1398091"/>
            <a:ext cx="304593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Method / Contribution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5947" y="1330623"/>
            <a:ext cx="2713962" cy="330696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6234750" y="1398091"/>
            <a:ext cx="304593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Dataset / Domain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09909" y="1330623"/>
            <a:ext cx="2713962" cy="330696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8948712" y="1398091"/>
            <a:ext cx="304593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Limitation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6827" y="1731963"/>
            <a:ext cx="304593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Lozano et al., 2024 (µ-Bench, NeurIPS)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20788" y="1731963"/>
            <a:ext cx="2436355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Expert-curated VLM benchmark across 24 biomedical tasks (electron, fluorescence, light microscopy)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34750" y="1731963"/>
            <a:ext cx="304593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22–24 biomedical microscopy tasks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48712" y="1731963"/>
            <a:ext cx="2436355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VLMs struggle even on basic modality-distinction tasks; specialist models often underperform generalists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6827" y="2451001"/>
            <a:ext cx="304593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 et al., 2023 (LLaVA-Med, NeurIPS)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20788" y="2451001"/>
            <a:ext cx="2436355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Curriculum fine-tuning of a general VLM on PubMed figure-caption pairs for biomedical visual Q&amp;A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34750" y="2451001"/>
            <a:ext cx="304593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PubMed Central biomedical figures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948712" y="2451001"/>
            <a:ext cx="2436355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large-scale GPU training; not deployable in real-time mobile/edge settings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6827" y="3170039"/>
            <a:ext cx="243635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Bai et al., 2024 (Hallucination Survey, arXiv)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20788" y="3170039"/>
            <a:ext cx="2436355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taxonomy of hallucination causes, benchmarks, and mitigation strategies in MLLMs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34750" y="3170039"/>
            <a:ext cx="304593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MLLM benchmarks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948712" y="3170039"/>
            <a:ext cx="2436355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Hallucination remains an open problem; no universal mitigation; high-stakes domains especially at risk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6827" y="3889077"/>
            <a:ext cx="243635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Manathunga &amp; Illangasekara, 2023 (RAG in Medical Education, arXiv)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520788" y="3889077"/>
            <a:ext cx="2436355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+ representative vector summarization applied to LLMs for medical education Q&amp;A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34750" y="3889077"/>
            <a:ext cx="304593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Medical education textbooks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948712" y="3889077"/>
            <a:ext cx="2436355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Evaluated on text-only queries; multimodal (image + text) RAG pipelines not addressed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6827" y="4608116"/>
            <a:ext cx="304593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Wang et al., 2024 (BioRAG, arXiv)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520788" y="4608116"/>
            <a:ext cx="2436355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RAG-LLM framework over 22M biology papers with domain-specific embedding model and iterative retrieval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34750" y="4608116"/>
            <a:ext cx="304593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22M scientific biology papers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948712" y="4608116"/>
            <a:ext cx="2436355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Focused on research-level queries; not designed for real-time student-facing educational use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06827" y="5327154"/>
            <a:ext cx="304593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Burgess et al., 2025 (MicroVQA, PMC)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520788" y="5327154"/>
            <a:ext cx="2436355" cy="770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VQA benchmark for research-level microscopy reasoning: image understanding, hypothesis generation, experiment proposal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34750" y="5327154"/>
            <a:ext cx="243635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1,042 expert-curated MCQs across microscopy modalities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948712" y="5327154"/>
            <a:ext cx="2436355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Peak MLLM accuracy only 53%; multimodal reasoning harder than language reasoning alone</a:t>
            </a:r>
            <a:endParaRPr lang="en-US" sz="105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9725C58-7C58-77C6-B8C9-BDD80BC72430}"/>
              </a:ext>
            </a:extLst>
          </p:cNvPr>
          <p:cNvSpPr/>
          <p:nvPr/>
        </p:nvSpPr>
        <p:spPr>
          <a:xfrm>
            <a:off x="10935478" y="6522098"/>
            <a:ext cx="1184987" cy="335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4759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Existing Systems vs </a:t>
            </a:r>
            <a:r>
              <a:rPr lang="en-US" sz="3350" b="1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ScopePilot</a:t>
            </a:r>
            <a:r>
              <a:rPr lang="en-US" sz="33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AI</a:t>
            </a:r>
            <a:endParaRPr lang="en-US" sz="3350" b="1" dirty="0"/>
          </a:p>
        </p:txBody>
      </p:sp>
      <p:sp>
        <p:nvSpPr>
          <p:cNvPr id="3" name="Shape 1"/>
          <p:cNvSpPr/>
          <p:nvPr/>
        </p:nvSpPr>
        <p:spPr>
          <a:xfrm>
            <a:off x="661475" y="1460500"/>
            <a:ext cx="10868745" cy="4782741"/>
          </a:xfrm>
          <a:prstGeom prst="roundRect">
            <a:avLst>
              <a:gd name="adj" fmla="val 150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661475" y="2191345"/>
            <a:ext cx="10868745" cy="107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661475" y="2919016"/>
            <a:ext cx="10868745" cy="107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661475" y="3385443"/>
            <a:ext cx="10868745" cy="107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61475" y="4113113"/>
            <a:ext cx="10868745" cy="107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661475" y="4840784"/>
            <a:ext cx="10868745" cy="107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661475" y="5307211"/>
            <a:ext cx="10868745" cy="107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661475" y="5773638"/>
            <a:ext cx="10868745" cy="107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3707613" y="1460500"/>
            <a:ext cx="10706" cy="478274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5661677" y="1460500"/>
            <a:ext cx="10706" cy="478274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7615742" y="1460500"/>
            <a:ext cx="10706" cy="478274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9569806" y="1460500"/>
            <a:ext cx="10706" cy="478274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667924" y="1466850"/>
            <a:ext cx="3039689" cy="724495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839171" y="1566267"/>
            <a:ext cx="330360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Feature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82035" y="1566267"/>
            <a:ext cx="160522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General VLMs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(GPT-4V, Gemini)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36099" y="1566267"/>
            <a:ext cx="160522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Specialist Tools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(ImageJ, CellProfiler)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90164" y="1566267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LLaVA-Med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569806" y="1466850"/>
            <a:ext cx="1954064" cy="724495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9744228" y="1566267"/>
            <a:ext cx="160839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 err="1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ScopePilot</a:t>
            </a: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AI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(Proposed)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9171" y="2293938"/>
            <a:ext cx="330360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microscope integration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77243" y="2293938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1307" y="2293938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85371" y="2293938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44228" y="2293938"/>
            <a:ext cx="160839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(phone on eyepiece)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9171" y="3021608"/>
            <a:ext cx="330360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JSON output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77243" y="3021608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1307" y="3021608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85371" y="3021608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39436" y="3021608"/>
            <a:ext cx="221798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(Pydantic schema)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9171" y="3488035"/>
            <a:ext cx="330360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RAG-grounded explanations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77243" y="3488035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1307" y="3488035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85371" y="3488035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744228" y="3488035"/>
            <a:ext cx="160839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(Chroma + OpenStax)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9171" y="4215705"/>
            <a:ext cx="330360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Uncertainty / hallucination guard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577243" y="4215705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Partial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31307" y="4215705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N/A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85371" y="4215705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744228" y="4215705"/>
            <a:ext cx="160839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(explicit uncertainty field)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39171" y="4943376"/>
            <a:ext cx="330360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Quiz / learning generation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577243" y="4943376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531307" y="4943376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485371" y="4943376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439436" y="4943376"/>
            <a:ext cx="221798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39171" y="5409803"/>
            <a:ext cx="330360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specialist hardware needed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577243" y="5409803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531307" y="5409803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485371" y="5409803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439436" y="5409803"/>
            <a:ext cx="221798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39171" y="5876230"/>
            <a:ext cx="330360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/ low-cost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577243" y="5876230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531307" y="5876230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485371" y="5876230"/>
            <a:ext cx="22148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Partial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439436" y="5876230"/>
            <a:ext cx="221798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</a:t>
            </a:r>
            <a:endParaRPr lang="en-US" sz="13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7F216D1-932E-78FE-9603-7BC383CED0AF}"/>
              </a:ext>
            </a:extLst>
          </p:cNvPr>
          <p:cNvSpPr/>
          <p:nvPr/>
        </p:nvSpPr>
        <p:spPr>
          <a:xfrm>
            <a:off x="10935478" y="6522098"/>
            <a:ext cx="1184987" cy="335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6594" y="949389"/>
            <a:ext cx="2258812" cy="378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Pipeline</a:t>
            </a:r>
            <a:endParaRPr lang="en-US" sz="23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455" y="1622947"/>
            <a:ext cx="8912370" cy="5067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186785"/>
            <a:ext cx="114783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1F552B-9BA6-F844-3956-24512359C5E1}"/>
              </a:ext>
            </a:extLst>
          </p:cNvPr>
          <p:cNvSpPr/>
          <p:nvPr/>
        </p:nvSpPr>
        <p:spPr>
          <a:xfrm>
            <a:off x="10935478" y="6522098"/>
            <a:ext cx="1184987" cy="335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3579"/>
            <a:ext cx="3297067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Gemini?</a:t>
            </a:r>
            <a:endParaRPr lang="en-US" sz="3300" b="1" dirty="0"/>
          </a:p>
        </p:txBody>
      </p:sp>
      <p:sp>
        <p:nvSpPr>
          <p:cNvPr id="4" name="Text 1"/>
          <p:cNvSpPr/>
          <p:nvPr/>
        </p:nvSpPr>
        <p:spPr>
          <a:xfrm>
            <a:off x="5743531" y="1604118"/>
            <a:ext cx="579294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/>
              <a:t>Method </a:t>
            </a:r>
          </a:p>
        </p:txBody>
      </p:sp>
      <p:sp>
        <p:nvSpPr>
          <p:cNvPr id="5" name="Text 2"/>
          <p:cNvSpPr/>
          <p:nvPr/>
        </p:nvSpPr>
        <p:spPr>
          <a:xfrm>
            <a:off x="5743531" y="1904305"/>
            <a:ext cx="579294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>
              <a:lnSpc>
                <a:spcPct val="126000"/>
              </a:lnSpc>
            </a:pPr>
            <a:r>
              <a:rPr lang="en-AE" sz="1400" dirty="0">
                <a:latin typeface="Raleway" pitchFamily="2" charset="0"/>
              </a:rPr>
              <a:t>Compared both models on 10 real microscope images using a 7-point checklist (correct ID, structures, accuracy, reasoning, hallucinations, explanation quality, confidence). One person scored it — this is a rough comparison, not a formal benchmark.</a:t>
            </a:r>
            <a:endParaRPr lang="en-US" sz="1100" dirty="0">
              <a:latin typeface="Raleway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43531" y="2818011"/>
            <a:ext cx="579294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</a:t>
            </a:r>
            <a:endParaRPr lang="en-US" sz="1650" b="1" dirty="0"/>
          </a:p>
        </p:txBody>
      </p:sp>
      <p:sp>
        <p:nvSpPr>
          <p:cNvPr id="7" name="Text 4"/>
          <p:cNvSpPr/>
          <p:nvPr/>
        </p:nvSpPr>
        <p:spPr>
          <a:xfrm>
            <a:off x="5743531" y="3114353"/>
            <a:ext cx="579294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6000"/>
              </a:lnSpc>
            </a:pPr>
            <a:r>
              <a:rPr lang="en-AE" sz="1200" dirty="0">
                <a:latin typeface="Raleway" pitchFamily="2" charset="0"/>
              </a:rPr>
              <a:t>Both models performed comparably on clear, well-lit specimens. Gemini's advantage appeared specifically on ambiguous or low-quality images, where Qwen tended to hallucinate.</a:t>
            </a:r>
            <a:endParaRPr lang="en-US" sz="1200" dirty="0">
              <a:latin typeface="Raleway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43531" y="4006728"/>
            <a:ext cx="579294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Critical Failure - Qwen</a:t>
            </a:r>
            <a:endParaRPr lang="en-US" sz="1650" b="1" dirty="0"/>
          </a:p>
        </p:txBody>
      </p:sp>
      <p:sp>
        <p:nvSpPr>
          <p:cNvPr id="9" name="Text 6"/>
          <p:cNvSpPr/>
          <p:nvPr/>
        </p:nvSpPr>
        <p:spPr>
          <a:xfrm>
            <a:off x="5743531" y="4303018"/>
            <a:ext cx="579294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Misidentified an unstained blood wet-mount as "yeast cells"; labeled a visible white blood cell as a platelet while explicitly denying any leukocyte was present.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743531" y="5235476"/>
            <a:ext cx="5792940" cy="863203"/>
          </a:xfrm>
          <a:prstGeom prst="roundRect">
            <a:avLst>
              <a:gd name="adj" fmla="val 8191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801" y="5482729"/>
            <a:ext cx="210338" cy="1682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90411" y="5412482"/>
            <a:ext cx="5077789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models tied on well-lit, unambiguous specimens. Gemini's advantage is </a:t>
            </a: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robustness on edge cases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average performance.</a:t>
            </a:r>
            <a:endParaRPr lang="en-US" sz="13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8D1866-DE65-9BCD-194A-ABF03A859E4F}"/>
              </a:ext>
            </a:extLst>
          </p:cNvPr>
          <p:cNvSpPr/>
          <p:nvPr/>
        </p:nvSpPr>
        <p:spPr>
          <a:xfrm>
            <a:off x="10935478" y="6522098"/>
            <a:ext cx="1184987" cy="335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0348D55-9954-3012-5B25-4F6C4C0B1E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199" t="4784" r="-317" b="56232"/>
          <a:stretch>
            <a:fillRect/>
          </a:stretch>
        </p:blipFill>
        <p:spPr>
          <a:xfrm>
            <a:off x="289368" y="2398801"/>
            <a:ext cx="5173884" cy="20603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784" y="634058"/>
            <a:ext cx="3024117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Technical Stack</a:t>
            </a:r>
            <a:endParaRPr lang="en-US" sz="3150" b="1" dirty="0"/>
          </a:p>
        </p:txBody>
      </p:sp>
      <p:sp>
        <p:nvSpPr>
          <p:cNvPr id="3" name="Shape 1"/>
          <p:cNvSpPr/>
          <p:nvPr/>
        </p:nvSpPr>
        <p:spPr>
          <a:xfrm>
            <a:off x="606112" y="1874590"/>
            <a:ext cx="5244870" cy="3474144"/>
          </a:xfrm>
          <a:prstGeom prst="roundRect">
            <a:avLst>
              <a:gd name="adj" fmla="val 2539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AE" dirty="0"/>
          </a:p>
        </p:txBody>
      </p:sp>
      <p:sp>
        <p:nvSpPr>
          <p:cNvPr id="4" name="Text 2"/>
          <p:cNvSpPr/>
          <p:nvPr/>
        </p:nvSpPr>
        <p:spPr>
          <a:xfrm>
            <a:off x="706916" y="1424781"/>
            <a:ext cx="492003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50" dirty="0">
                <a:latin typeface="Raleway" pitchFamily="2" charset="0"/>
              </a:rPr>
              <a:t>Frontend</a:t>
            </a:r>
          </a:p>
        </p:txBody>
      </p:sp>
      <p:sp>
        <p:nvSpPr>
          <p:cNvPr id="5" name="Shape 3"/>
          <p:cNvSpPr/>
          <p:nvPr/>
        </p:nvSpPr>
        <p:spPr>
          <a:xfrm>
            <a:off x="778521" y="2393729"/>
            <a:ext cx="2375783" cy="1203144"/>
          </a:xfrm>
          <a:prstGeom prst="roundRect">
            <a:avLst>
              <a:gd name="adj" fmla="val 562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909665" y="2616204"/>
            <a:ext cx="20526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React Native / Expo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45382" y="3013408"/>
            <a:ext cx="205268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TypeScript · Cross-platform mobile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65902" y="2395339"/>
            <a:ext cx="2390318" cy="1214041"/>
          </a:xfrm>
          <a:prstGeom prst="roundRect">
            <a:avLst>
              <a:gd name="adj" fmla="val 562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3405400" y="2612414"/>
            <a:ext cx="20527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Camera Module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405399" y="3018441"/>
            <a:ext cx="205278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 trigger · Eyepiece attachment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6615" y="3937802"/>
            <a:ext cx="4920036" cy="972443"/>
          </a:xfrm>
          <a:prstGeom prst="roundRect">
            <a:avLst>
              <a:gd name="adj" fmla="val 701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945382" y="4160341"/>
            <a:ext cx="458250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 UI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45382" y="4532858"/>
            <a:ext cx="458250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 interface · Quiz renderer · Comparison view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75012" y="1424781"/>
            <a:ext cx="546145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</a:t>
            </a:r>
            <a:endParaRPr lang="en-US" sz="15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012" y="1835547"/>
            <a:ext cx="812184" cy="97462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026695" y="1997968"/>
            <a:ext cx="450977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FastAPI (Python)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026695" y="2391271"/>
            <a:ext cx="450977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 · Pipeline orchestration</a:t>
            </a:r>
            <a:endParaRPr lang="en-US" sz="12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012" y="2810173"/>
            <a:ext cx="812184" cy="97462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26695" y="2972594"/>
            <a:ext cx="450977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Gemini Vision API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7026695" y="3365897"/>
            <a:ext cx="450977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gemini-2.5-flash · Structured JSON analysis</a:t>
            </a:r>
            <a:endParaRPr lang="en-US" sz="12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012" y="3784798"/>
            <a:ext cx="812184" cy="97462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26695" y="3947220"/>
            <a:ext cx="450977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ChromaDB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7026695" y="4340523"/>
            <a:ext cx="450977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Vector store · OpenStax Biology 2e + LibreTexts</a:t>
            </a:r>
            <a:endParaRPr lang="en-US" sz="12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5012" y="4759424"/>
            <a:ext cx="812184" cy="97462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26695" y="4921845"/>
            <a:ext cx="450977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Gemini Embeddings API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7026695" y="5315148"/>
            <a:ext cx="450977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text-embedding-004 · RAG retrieval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356682" y="6047978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communicates with Backend via a </a:t>
            </a: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bidirectional REST API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camera captures on device, all AI processing runs server-side.</a:t>
            </a:r>
            <a:endParaRPr lang="en-US" sz="12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C7CF48-B6D1-D337-459C-1CEB301087B8}"/>
              </a:ext>
            </a:extLst>
          </p:cNvPr>
          <p:cNvSpPr/>
          <p:nvPr/>
        </p:nvSpPr>
        <p:spPr>
          <a:xfrm>
            <a:off x="10935478" y="6435553"/>
            <a:ext cx="1184987" cy="335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6" y="486964"/>
            <a:ext cx="4358394" cy="171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Sustainable Development Goal Alignment</a:t>
            </a:r>
            <a:endParaRPr lang="en-US" sz="3600" b="1" dirty="0"/>
          </a:p>
        </p:txBody>
      </p:sp>
      <p:sp>
        <p:nvSpPr>
          <p:cNvPr id="3" name="Text 1"/>
          <p:cNvSpPr/>
          <p:nvPr/>
        </p:nvSpPr>
        <p:spPr>
          <a:xfrm>
            <a:off x="661475" y="2496741"/>
            <a:ext cx="5211037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SDG 4 – Quality Education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61475" y="3131741"/>
            <a:ext cx="5211037" cy="313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AI explanations transform passive observation into active learning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quiz generation reinforces biological concepts immediately after capture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Accessible to all students regardless of lab resources or expertise level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Affordable deployment using standard microscopes and smartphones, no specialized hardware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Democratizes expert-level microscopy interpretation in under-resourced educational settings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533" y="731441"/>
            <a:ext cx="5211037" cy="521116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2310CB2-CD47-39A9-9A32-7CD65995827A}"/>
              </a:ext>
            </a:extLst>
          </p:cNvPr>
          <p:cNvSpPr/>
          <p:nvPr/>
        </p:nvSpPr>
        <p:spPr>
          <a:xfrm>
            <a:off x="10935478" y="6522098"/>
            <a:ext cx="1184987" cy="335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29168" y="553576"/>
            <a:ext cx="3733664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Readiness Level</a:t>
            </a:r>
            <a:endParaRPr lang="en-US" sz="20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23210" b="25016"/>
          <a:stretch>
            <a:fillRect/>
          </a:stretch>
        </p:blipFill>
        <p:spPr>
          <a:xfrm>
            <a:off x="1238136" y="1248318"/>
            <a:ext cx="10151706" cy="16539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3968" y="3429000"/>
            <a:ext cx="10868745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Status (TRL 2 ):</a:t>
            </a:r>
            <a:endParaRPr lang="en-US" sz="1400" b="1" dirty="0"/>
          </a:p>
        </p:txBody>
      </p:sp>
      <p:sp>
        <p:nvSpPr>
          <p:cNvPr id="5" name="Text 2"/>
          <p:cNvSpPr/>
          <p:nvPr/>
        </p:nvSpPr>
        <p:spPr>
          <a:xfrm>
            <a:off x="661626" y="3757959"/>
            <a:ext cx="10868745" cy="718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62560" indent="-162560" algn="ctr">
              <a:lnSpc>
                <a:spcPct val="103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Literature review completed (6 peer-reviewed papers analyzed)</a:t>
            </a:r>
            <a:endParaRPr lang="en-US" sz="1400" dirty="0"/>
          </a:p>
          <a:p>
            <a:pPr marL="162560" indent="-162560" algn="ctr">
              <a:lnSpc>
                <a:spcPct val="103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collection: 10 real microscopy images with expert annotations</a:t>
            </a:r>
            <a:endParaRPr lang="en-US" sz="1400" dirty="0"/>
          </a:p>
          <a:p>
            <a:pPr marL="162560" indent="-162560" algn="ctr">
              <a:lnSpc>
                <a:spcPct val="103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benchmarking: Gemini 3.5 Flash vs. Qwen 3.7 VL (System architecture designed and validated</a:t>
            </a:r>
            <a:endParaRPr lang="en-US" sz="1400" dirty="0"/>
          </a:p>
          <a:p>
            <a:pPr marL="162560" indent="-162560" algn="ctr">
              <a:lnSpc>
                <a:spcPct val="103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 stack selected (React Native, FastAPI, Gemini API, </a:t>
            </a:r>
            <a:r>
              <a:rPr lang="en-US" sz="14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Quadr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23968" y="5266410"/>
            <a:ext cx="10868745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Roadmap to TRL 3 (Experimental Proof of Concept):</a:t>
            </a:r>
            <a:endParaRPr lang="en-US" sz="1400" b="1" dirty="0"/>
          </a:p>
        </p:txBody>
      </p:sp>
      <p:sp>
        <p:nvSpPr>
          <p:cNvPr id="7" name="Text 4"/>
          <p:cNvSpPr/>
          <p:nvPr/>
        </p:nvSpPr>
        <p:spPr>
          <a:xfrm>
            <a:off x="521097" y="5548514"/>
            <a:ext cx="10868745" cy="57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162560" indent="-162560" algn="ctr">
              <a:lnSpc>
                <a:spcPct val="103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 prototype development with camera integration</a:t>
            </a:r>
            <a:endParaRPr lang="en-US" sz="1400" dirty="0"/>
          </a:p>
          <a:p>
            <a:pPr marL="162560" indent="-162560" algn="ctr">
              <a:lnSpc>
                <a:spcPct val="103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API integration and structured JSON schema validation</a:t>
            </a:r>
            <a:endParaRPr lang="en-US" sz="1400" dirty="0"/>
          </a:p>
          <a:p>
            <a:pPr marL="162560" indent="-162560" algn="ctr">
              <a:lnSpc>
                <a:spcPct val="103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pipeline implementation with OpenStax Biology 2e + </a:t>
            </a:r>
            <a:r>
              <a:rPr lang="en-US" sz="14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LibreTexts</a:t>
            </a:r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D848FF-B07A-EFBD-DBE9-BB4AF499CCBE}"/>
              </a:ext>
            </a:extLst>
          </p:cNvPr>
          <p:cNvSpPr/>
          <p:nvPr/>
        </p:nvSpPr>
        <p:spPr>
          <a:xfrm>
            <a:off x="11000220" y="6522098"/>
            <a:ext cx="1184987" cy="335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1C27A0-A796-5927-830E-102DA5B80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789" y="1363218"/>
            <a:ext cx="1072196" cy="3554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F46B72-D7CC-2F76-8A71-BAEE2A1BB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985" y="1270416"/>
            <a:ext cx="1336628" cy="4473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226" y="11414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Advantages &amp; Applications</a:t>
            </a:r>
            <a:endParaRPr lang="en-US" sz="3600" b="1" dirty="0"/>
          </a:p>
        </p:txBody>
      </p:sp>
      <p:sp>
        <p:nvSpPr>
          <p:cNvPr id="4" name="Text 1"/>
          <p:cNvSpPr/>
          <p:nvPr/>
        </p:nvSpPr>
        <p:spPr>
          <a:xfrm>
            <a:off x="661475" y="2755900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Biology Education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64582"/>
            <a:ext cx="2539936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 structured feedback during lab sessions — students learn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they are observing, not just that they are observing it. Quiz generation reinforces concepts immediately after capture.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3437645" y="275590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Low-Resource Labs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3164582"/>
            <a:ext cx="254003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only a standard microscope and a smartphone — no dedicated digital microscope, no institutional software license, no internet-connected lab PC.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6213915" y="2755900"/>
            <a:ext cx="254003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Self-Paced &amp; Asynchronous Learning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3755132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Captured images and AI explanations persist; students can revisit, compare specimens, and continue learning outside lab hours.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8990184" y="275590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Responsible AI Design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3164582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Nno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medical diagnosis framing, human always in the loop — safe for student-facing deployment.</a:t>
            </a:r>
            <a:endParaRPr lang="en-US" sz="14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C671EE-63DE-A68D-B491-0FAE0F62DD76}"/>
              </a:ext>
            </a:extLst>
          </p:cNvPr>
          <p:cNvSpPr/>
          <p:nvPr/>
        </p:nvSpPr>
        <p:spPr>
          <a:xfrm>
            <a:off x="10935478" y="6522098"/>
            <a:ext cx="1184987" cy="335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3F5CDB-4C55-BE48-F816-D8192F318833}"/>
              </a:ext>
            </a:extLst>
          </p:cNvPr>
          <p:cNvSpPr/>
          <p:nvPr/>
        </p:nvSpPr>
        <p:spPr>
          <a:xfrm>
            <a:off x="11007013" y="6506547"/>
            <a:ext cx="1184987" cy="335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61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References</a:t>
            </a:r>
            <a:endParaRPr lang="en-US" sz="3600" b="1" dirty="0"/>
          </a:p>
        </p:txBody>
      </p:sp>
      <p:sp>
        <p:nvSpPr>
          <p:cNvPr id="3" name="Text 1"/>
          <p:cNvSpPr/>
          <p:nvPr/>
        </p:nvSpPr>
        <p:spPr>
          <a:xfrm>
            <a:off x="661475" y="2084784"/>
            <a:ext cx="10868745" cy="365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Lozano, A., Nirschl, J., Burgess, J., et al. (2024).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µ-Bench: A Vision-Language Benchmark for Microscopy Understanding.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NeurIPS 2024 Datasets &amp; Benchmarks Track.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Li, C., Wong, C., Zhang, S., et al. (2023).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LLaVA-Med: Training a Large Language-and-Vision Assistant for Biomedicine in One Day.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NeurIPS 2023.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Bai, Z., Wang, P., Xiao, T., et al. (2024).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Hallucination of Multimodal Large Language Models: A Survey.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arXiv:2404.18930.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Manathunga, S., &amp; Illangasekara, Y. A. (2023).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Retrieval Augmented Generation and Representative Vector Summarization for Large Unstructured Textual Data in Medical Education.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arXiv:2308.00479.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Wang, C., Long, Q., Xiao, M., et al. (2024).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BioRAG: A RAG-LLM Framework for Biological Question Reasoning.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arXiv:2408.01107.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Burgess, J., Nirschl, J., Bravo-Sánchez, L., et al. (2025).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MicroVQA: A Multimodal Reasoning Benchmark for Microscopy-Based Scientific Research.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arXiv:2503.13399.</a:t>
            </a:r>
            <a:endParaRPr lang="en-US" sz="14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0DBB87-7075-10CD-9CB6-97E9366B71C6}"/>
              </a:ext>
            </a:extLst>
          </p:cNvPr>
          <p:cNvSpPr/>
          <p:nvPr/>
        </p:nvSpPr>
        <p:spPr>
          <a:xfrm>
            <a:off x="10935478" y="6419461"/>
            <a:ext cx="1184987" cy="335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2060</TotalTime>
  <Words>1434</Words>
  <Application>Microsoft Office PowerPoint</Application>
  <PresentationFormat>Widescreen</PresentationFormat>
  <Paragraphs>186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Roboto Bold</vt:lpstr>
      <vt:lpstr>Arial</vt:lpstr>
      <vt:lpstr>Roboto</vt:lpstr>
      <vt:lpstr>Times New Roman</vt:lpstr>
      <vt:lpstr>Raleway Light</vt:lpstr>
      <vt:lpstr>Raleway</vt:lpstr>
      <vt:lpstr>Office Theme</vt:lpstr>
      <vt:lpstr> B.Tech Computer Science and Engineering  BCSE 497J – Project-I  ScopePilot – AI Assistant for Microscopy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Ayman Mohammed</cp:lastModifiedBy>
  <cp:revision>3</cp:revision>
  <dcterms:created xsi:type="dcterms:W3CDTF">2026-07-27T18:29:40Z</dcterms:created>
  <dcterms:modified xsi:type="dcterms:W3CDTF">2026-07-29T04:51:47Z</dcterms:modified>
</cp:coreProperties>
</file>